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73" r:id="rId3"/>
    <p:sldId id="274" r:id="rId4"/>
    <p:sldId id="275" r:id="rId5"/>
    <p:sldId id="272" r:id="rId6"/>
    <p:sldId id="276" r:id="rId7"/>
    <p:sldId id="269" r:id="rId8"/>
    <p:sldId id="270" r:id="rId9"/>
    <p:sldId id="278" r:id="rId10"/>
    <p:sldId id="279" r:id="rId11"/>
    <p:sldId id="271" r:id="rId12"/>
    <p:sldId id="277" r:id="rId13"/>
    <p:sldId id="280" r:id="rId14"/>
    <p:sldId id="257" r:id="rId15"/>
    <p:sldId id="260" r:id="rId16"/>
    <p:sldId id="259" r:id="rId17"/>
    <p:sldId id="258" r:id="rId18"/>
    <p:sldId id="261" r:id="rId19"/>
    <p:sldId id="262" r:id="rId20"/>
    <p:sldId id="263" r:id="rId21"/>
    <p:sldId id="266" r:id="rId22"/>
    <p:sldId id="264" r:id="rId23"/>
    <p:sldId id="265" r:id="rId24"/>
    <p:sldId id="267" r:id="rId25"/>
    <p:sldId id="268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6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2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17DA84-0A72-4198-B6F3-6DBBB9B9356D}" type="datetimeFigureOut">
              <a:rPr lang="en-IN" smtClean="0"/>
              <a:t>11-10-2026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42A922-215B-4768-9496-9B3C602F87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5965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EF7E3-418D-D282-62BA-F661C866A0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FA45E6-5C7A-D725-5B3D-5620439592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651C2C-9F66-CF5A-30CC-5F5B7B46C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D0AD8-DEAE-468C-8408-9D8C8045FECD}" type="datetime1">
              <a:rPr lang="en-IN" smtClean="0"/>
              <a:t>11-10-2026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FA1DF-D432-D450-9CFD-8A144265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CB10EA-FE1B-7CD9-1B1B-1F2B3F5CD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5376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51BBB-9C96-7D88-F6C6-34DA7DEF1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CD4C6-AA8F-E877-8654-E489EA269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67C60F-0AA5-4C41-6A18-A679CEE2E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BC1A8-05C7-4D88-9081-F7ED25857EEC}" type="datetime1">
              <a:rPr lang="en-IN" smtClean="0"/>
              <a:t>11-10-2026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17E4AE-C31F-CC5E-F101-2F94834DC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A5A20-A4E6-E00F-AE7A-18CCFCC70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7913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1D637-8870-56B4-72D1-6CCA5762B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4DC60F-96EF-B104-31E0-32C4C71A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6F855-6A67-DB69-D53D-87AD125D2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7F8C0-8E0D-45EF-8F18-07EABB9A2A5A}" type="datetime1">
              <a:rPr lang="en-IN" smtClean="0"/>
              <a:t>11-10-2026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09CC8-2A51-71BA-1C05-DC9FAEBE5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E4B25E-9520-062C-FEF4-2D8DE37D1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4211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49863-4BBC-0A91-C27B-4CE8BB4F1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E3FCB4-B8F8-5A7F-F839-53AD518162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55B344-6D7E-FB62-7BB1-2E8BFEABC2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56E9F1-4F35-25E2-BF4C-09C745788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A7FB3F-5A5B-4ABD-8DF3-CACA4161FC37}" type="datetime1">
              <a:rPr lang="en-IN" smtClean="0"/>
              <a:t>11-10-2026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7D8360-52A8-CEA8-F31E-2716C2187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23DE11-414D-E77B-0915-EEA620B3C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6752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E4CB2-1E06-6BC3-980E-82D0B9DFC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E1D272-8774-EBAB-770A-5D3954FCFD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EB030A-E976-5970-DF9E-55022F7555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FE311A-BAE9-1857-BBDE-8019A9C0E4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A7C2D-0AEE-4859-B6F1-6B25C66A65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7CEADE-ACAC-8946-7ACC-446C70F71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8B0171-3F2B-4E91-A0AB-1820965676D5}" type="datetime1">
              <a:rPr lang="en-IN" smtClean="0"/>
              <a:t>11-10-2026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2D1A98-C574-4A75-AFD0-301230449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05527E-F38A-017E-756A-AF4F9F220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6201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C6CCA-8761-D210-1D5E-2654C07BF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D74A1D-CBBC-B26A-8CD5-D2B8EBA29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94FB9-5D27-4353-A040-C3734B122DE1}" type="datetime1">
              <a:rPr lang="en-IN" smtClean="0"/>
              <a:t>11-10-2026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3656A-68CD-9243-07E2-8F32A9E9C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7AC9C5-0CBB-CAAE-62F9-EC31FEA8C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5493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991CBD-4036-DD18-E03B-935898426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A0EF6-D178-41FB-ABB1-0D427062312A}" type="datetime1">
              <a:rPr lang="en-IN" smtClean="0"/>
              <a:t>11-10-2026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FA96F4-E6B8-37D8-15E7-A61F82BDE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95E7B-6CDB-5AFF-69AB-7B11A023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4458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65E70-1DD8-74F5-8BE8-09C2AE427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C3575-7464-FA76-AAC9-7F7A5ADA34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0D4186-858D-DDE1-9BF3-6224DF77C3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3BE788-5FF9-B8E7-A05F-A033A086C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2D7A38-F4C4-4874-B2DE-44C353BB6D7D}" type="datetime1">
              <a:rPr lang="en-IN" smtClean="0"/>
              <a:t>11-10-2026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9705C-EC7D-D46D-BFE5-0D4CFD9EB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555D31-00C5-BE10-B5BC-A07C328E2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2701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9BFD8-7E07-A713-EE1B-EF713694B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727A0F-0E23-0CA3-6943-68FEBC099F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CFA095-2F06-12D7-32CA-458B4D1549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101C6F-E7B0-253B-A958-C428B7620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665CD-83CE-4FCC-B15F-FAF903148CF3}" type="datetime1">
              <a:rPr lang="en-IN" smtClean="0"/>
              <a:t>11-10-2026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E7AC52-0579-B0F9-7B1E-3AB82FD6B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3A378E-09A7-86F5-6A79-E8B10768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2232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EAB89-55B6-3B9A-3B5D-655521933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B05349-6169-EB8C-F214-F669B93EA0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66EF2-8B5E-561D-6F24-44B60CD02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C4D82-99D8-4F77-91F5-39498FC23A25}" type="datetime1">
              <a:rPr lang="en-IN" smtClean="0"/>
              <a:t>11-10-2026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E1E273-7AFA-D499-545B-E11F3B318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A4BA2-28FD-D15E-2D1F-935B34417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6867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7D79AB-B0B2-26C1-2142-A7B5229AE2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66F0D-A228-66CA-4795-FD3D4A832B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35A0D3-CD76-D0F5-9D93-F8A9CFF03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471DD-EA23-43E7-AB9D-108EF467F7A5}" type="datetime1">
              <a:rPr lang="en-IN" smtClean="0"/>
              <a:t>11-10-2026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FA504-CE5B-759F-B065-2BC71CECD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A8670-30FD-7C5B-F478-3A986DF6D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4006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13B07B-3A30-F0AD-1074-722ED428A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F23033-2414-7C56-E076-12B5FC57FB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42F1B-12E6-1632-2470-D70C8DD87C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743C1B-E0AC-4475-889D-FCCD44A90551}" type="datetime1">
              <a:rPr lang="en-IN" smtClean="0"/>
              <a:t>11-10-2026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08EAC-DF4B-1479-736B-DCA1E08E2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5DFDB0-3D1C-5317-B784-225343917F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163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Working-process-of-qml-models_fig11_377370252" TargetMode="External"/><Relationship Id="rId2" Type="http://schemas.openxmlformats.org/officeDocument/2006/relationships/hyperlink" Target="https://www.ebi.ac.uk/chembl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luis-vollmers.medium.com/tutorial-to-smiles-and-canonical-smiles-explained-with-examples-fbc8a46ca29f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4A9C0-745C-9FAC-C180-8032B39E18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QLINK drug potency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BED2F6-86B7-8293-1CE1-6CDCF3BB14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Q-Link Screen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5C5640-994F-18B2-A0EC-D54D2D3D9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0187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32E5A-E0F6-964F-5806-5D7C0A68D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Dataset and pre-processing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AF3766-7BC0-ECDC-C389-3D77ADD6A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9073461" cy="512127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have </a:t>
            </a:r>
            <a:r>
              <a:rPr lang="en-US" dirty="0" err="1"/>
              <a:t>ChEMBL</a:t>
            </a:r>
            <a:r>
              <a:rPr lang="en-US" dirty="0"/>
              <a:t> drug molecule dataset which are specifically targeting the HIV protein inhibitors.</a:t>
            </a:r>
          </a:p>
          <a:p>
            <a:r>
              <a:rPr lang="en-IN" dirty="0" err="1"/>
              <a:t>ChEMBL</a:t>
            </a:r>
            <a:r>
              <a:rPr lang="en-IN" dirty="0"/>
              <a:t> dataset is in Canonical SMILES format.</a:t>
            </a:r>
          </a:p>
          <a:p>
            <a:endParaRPr lang="en-US" dirty="0"/>
          </a:p>
          <a:p>
            <a:r>
              <a:rPr lang="en-IN" dirty="0"/>
              <a:t>The pre-processing steps involves</a:t>
            </a:r>
          </a:p>
          <a:p>
            <a:pPr lvl="1"/>
            <a:r>
              <a:rPr lang="en-IN" dirty="0"/>
              <a:t>Converting the bioactivity value IC50 (which measures potency) to classes</a:t>
            </a:r>
          </a:p>
          <a:p>
            <a:pPr lvl="2"/>
            <a:r>
              <a:rPr lang="en-IN" dirty="0"/>
              <a:t>IC50 &lt; 1000nM – active.</a:t>
            </a:r>
          </a:p>
          <a:p>
            <a:pPr lvl="2"/>
            <a:r>
              <a:rPr lang="en-IN" dirty="0"/>
              <a:t>IC50 &gt; 10000nM – inactive.</a:t>
            </a:r>
          </a:p>
          <a:p>
            <a:pPr lvl="2"/>
            <a:r>
              <a:rPr lang="en-IN" dirty="0"/>
              <a:t>IC50 between 1000nM and 10000nM – intermediate.</a:t>
            </a:r>
          </a:p>
          <a:p>
            <a:pPr lvl="1"/>
            <a:r>
              <a:rPr lang="en-IN" dirty="0"/>
              <a:t>Converting SMILES to </a:t>
            </a:r>
            <a:r>
              <a:rPr lang="en-IN" dirty="0" err="1"/>
              <a:t>PaDEL</a:t>
            </a:r>
            <a:r>
              <a:rPr lang="en-IN" dirty="0"/>
              <a:t> descriptors (molecular descriptors like -</a:t>
            </a:r>
            <a:r>
              <a:rPr lang="en-US" dirty="0"/>
              <a:t>such as topological indices, constitutional descriptors, geometric properties, and electronic states)</a:t>
            </a:r>
            <a:r>
              <a:rPr lang="en-IN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866B0D-B0F3-CF53-4805-E1B1407CA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2</a:t>
            </a:fld>
            <a:endParaRPr lang="en-IN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87E2B2A5-2C51-337E-2028-142AACA356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3529" y="2577317"/>
            <a:ext cx="3083200" cy="537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90119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D95E4-3549-AC8A-87B5-3A3AE2A40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Mann –Whitney / </a:t>
            </a:r>
            <a:r>
              <a:rPr lang="en-IN" dirty="0"/>
              <a:t>Kruskal-Wallis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1BC5E-E5A5-546D-3070-7DAF3A7838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3038"/>
            <a:ext cx="10515600" cy="4733925"/>
          </a:xfrm>
        </p:spPr>
        <p:txBody>
          <a:bodyPr>
            <a:normAutofit/>
          </a:bodyPr>
          <a:lstStyle/>
          <a:p>
            <a:r>
              <a:rPr lang="en-IN" sz="1800" dirty="0"/>
              <a:t>An orally active drug-like compound should not have more than one violation. The Lipinski's Rule stated the following:</a:t>
            </a:r>
          </a:p>
          <a:p>
            <a:pPr lvl="1"/>
            <a:r>
              <a:rPr lang="en-IN" sz="1400" dirty="0"/>
              <a:t>Molecular weight (MW) &lt; 500 Dalton</a:t>
            </a:r>
          </a:p>
          <a:p>
            <a:pPr lvl="1"/>
            <a:r>
              <a:rPr lang="en-IN" sz="1400" dirty="0"/>
              <a:t>Octanol-water partition coefficient (</a:t>
            </a:r>
            <a:r>
              <a:rPr lang="en-IN" sz="1400" dirty="0" err="1"/>
              <a:t>LogP</a:t>
            </a:r>
            <a:r>
              <a:rPr lang="en-IN" sz="1400" dirty="0"/>
              <a:t>) &lt; 5</a:t>
            </a:r>
          </a:p>
          <a:p>
            <a:pPr lvl="1"/>
            <a:r>
              <a:rPr lang="en-IN" sz="1400" dirty="0"/>
              <a:t>Hydrogen bond donors (</a:t>
            </a:r>
            <a:r>
              <a:rPr lang="en-IN" sz="1400" dirty="0" err="1"/>
              <a:t>NumHDonors</a:t>
            </a:r>
            <a:r>
              <a:rPr lang="en-IN" sz="1400" dirty="0"/>
              <a:t>) &lt; 5</a:t>
            </a:r>
          </a:p>
          <a:p>
            <a:pPr lvl="1"/>
            <a:r>
              <a:rPr lang="en-IN" sz="1400" dirty="0"/>
              <a:t>Hydrogen bond acceptors &lt; 10</a:t>
            </a:r>
          </a:p>
          <a:p>
            <a:endParaRPr lang="en-IN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5695E-C7DD-C557-614A-EC73E2F2E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3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2C24AF-353F-8C81-9245-D7DC33DCDD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90422"/>
            <a:ext cx="10499667" cy="1988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094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6E863-3562-034F-0111-B04BA2D15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648192-1CEB-4FC2-B33E-4054E8C79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4</a:t>
            </a:fld>
            <a:endParaRPr lang="en-IN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E0718EC-09F2-9D38-9129-B63E63A700B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5183729" y="-2747811"/>
            <a:ext cx="1784296" cy="10226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orking process of qml models. | Download Scientific Diagram">
            <a:extLst>
              <a:ext uri="{FF2B5EF4-FFF2-40B4-BE49-F238E27FC236}">
                <a16:creationId xmlns:a16="http://schemas.microsoft.com/office/drawing/2014/main" id="{51BF05AF-64AB-4AAC-0B95-4AA9338DF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912" y="3538537"/>
            <a:ext cx="6219825" cy="2914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0996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157E5-0220-0D52-785E-38A77CA7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classification Results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77F360B-FC4B-9E7D-8D85-8BD1F1920E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24563"/>
            <a:ext cx="10515600" cy="4153461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7257C-B897-D7B6-F7F0-2B0BF0F17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6036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46209-80D2-D50A-CA20-870E6AEA2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Multi-class classification results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217BDF-AEDF-C672-56E0-9D8564EE4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3704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3282-A289-5CC2-334A-5E91635C5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Benchmark – State vector simulator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3DCC424-1139-9FDA-4FB3-0D3363D47C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35904" y="1847056"/>
            <a:ext cx="8791479" cy="435133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2E3951-B67D-6CED-C5D2-8A87DA22C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977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ED2F8-19F1-50F5-B2C8-90154A4B2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Benchmark – Sampling based simulator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0FEE24-7E85-72A4-3E15-4B908D378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18481"/>
            <a:ext cx="9421540" cy="458216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0E4272-0A33-BFA1-CD13-75B1947F8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2610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88AA4-8C01-75CC-8AB7-1E83FE37E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Benchmark – IONQ Aria1 simulator</a:t>
            </a: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E0BE226-53DF-ABC1-04E9-2D79761C1D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4009" y="1825625"/>
            <a:ext cx="8883981" cy="435133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708A-6369-B221-28E6-BF5374C27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4282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53E03-F307-9FB3-EFDB-3C51FCD8F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Benchmark – </a:t>
            </a:r>
            <a:r>
              <a:rPr lang="en-IN" dirty="0" err="1"/>
              <a:t>IonQ</a:t>
            </a:r>
            <a:r>
              <a:rPr lang="en-IN" dirty="0"/>
              <a:t> forte Enterprise 1 36q</a:t>
            </a:r>
            <a:br>
              <a:rPr lang="en-IN" dirty="0"/>
            </a:b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4561288-96E9-1426-8BC6-F6317AFD14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93069" y="1825625"/>
            <a:ext cx="8182121" cy="471042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3AA2CC-6B9C-3131-B9A7-9DB435551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8749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E60A4-7012-5F59-FE10-902DA745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 scores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9991E52-A204-23F9-4ADD-1CE68F6992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03260" y="1589882"/>
            <a:ext cx="8885391" cy="435133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F565B7-F93A-B573-D86E-B43AC2BEB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7515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2E94-5DC9-8FF0-B370-DB92E7E1D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06ED2-CD06-9AB7-6B7E-CF55024E4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1800" dirty="0" err="1"/>
              <a:t>Dataprofessor</a:t>
            </a:r>
            <a:r>
              <a:rPr lang="en-IN" sz="1800" dirty="0"/>
              <a:t>. (n.d.). </a:t>
            </a:r>
            <a:r>
              <a:rPr lang="en-IN" sz="1800" dirty="0" err="1"/>
              <a:t>Dataprofessor</a:t>
            </a:r>
            <a:r>
              <a:rPr lang="en-IN" sz="1800" dirty="0"/>
              <a:t>/</a:t>
            </a:r>
            <a:r>
              <a:rPr lang="en-IN" sz="1800" dirty="0" err="1"/>
              <a:t>bioinformatics_freecodecamp</a:t>
            </a:r>
            <a:r>
              <a:rPr lang="en-IN" sz="1800" dirty="0"/>
              <a:t>. GitHub. https://github.com/dataprofessor/bioinformatics_freecodecamp.git</a:t>
            </a:r>
          </a:p>
          <a:p>
            <a:r>
              <a:rPr lang="fi-FI" sz="1800" dirty="0"/>
              <a:t>Qiskit. (n.d.). https://qiskit.org/</a:t>
            </a:r>
          </a:p>
          <a:p>
            <a:r>
              <a:rPr lang="en-US" sz="1800" dirty="0" err="1"/>
              <a:t>Rdkit</a:t>
            </a:r>
            <a:r>
              <a:rPr lang="en-US" sz="1800" dirty="0"/>
              <a:t>. (n.d.). </a:t>
            </a:r>
            <a:r>
              <a:rPr lang="en-US" sz="1800" dirty="0" err="1"/>
              <a:t>Rdkit</a:t>
            </a:r>
            <a:r>
              <a:rPr lang="en-US" sz="1800" dirty="0"/>
              <a:t>/</a:t>
            </a:r>
            <a:r>
              <a:rPr lang="en-US" sz="1800" dirty="0" err="1"/>
              <a:t>rdkit</a:t>
            </a:r>
            <a:r>
              <a:rPr lang="en-US" sz="1800" dirty="0"/>
              <a:t>: The official sources for the </a:t>
            </a:r>
            <a:r>
              <a:rPr lang="en-US" sz="1800" dirty="0" err="1"/>
              <a:t>RDKit</a:t>
            </a:r>
            <a:r>
              <a:rPr lang="en-US" sz="1800" dirty="0"/>
              <a:t> Library. GitHub. https://github.com/rdkit/rdkit.git</a:t>
            </a:r>
          </a:p>
          <a:p>
            <a:r>
              <a:rPr lang="en-IN" sz="1800" dirty="0"/>
              <a:t>Pennylane. PennyLane. (n.d.). https://pennylane.ai/</a:t>
            </a:r>
          </a:p>
          <a:p>
            <a:r>
              <a:rPr lang="en-IN" sz="1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ChEMBL</a:t>
            </a:r>
            <a:r>
              <a:rPr lang="en-IN" sz="1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- </a:t>
            </a:r>
            <a:r>
              <a:rPr lang="en-IN" sz="1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ChEMBL</a:t>
            </a:r>
            <a:endParaRPr lang="en-US" sz="1800" dirty="0"/>
          </a:p>
          <a:p>
            <a:r>
              <a:rPr lang="en-IN" sz="1800" dirty="0"/>
              <a:t>https://qollab.xyz/</a:t>
            </a:r>
          </a:p>
          <a:p>
            <a:r>
              <a:rPr lang="en-US" sz="18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Working process of </a:t>
            </a:r>
            <a:r>
              <a:rPr lang="en-US" sz="1800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qml</a:t>
            </a:r>
            <a:r>
              <a:rPr lang="en-US" sz="18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models. | Download Scientific Diagram</a:t>
            </a:r>
            <a:endParaRPr lang="en-US" sz="1800" dirty="0"/>
          </a:p>
          <a:p>
            <a:r>
              <a:rPr lang="en-US" sz="18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Tutorial to SMILES and canonical SMILES explained with examples | by </a:t>
            </a:r>
            <a:r>
              <a:rPr lang="en-US" sz="18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thatbiochemistryguy</a:t>
            </a:r>
            <a:r>
              <a:rPr lang="en-US" sz="18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| Medium</a:t>
            </a:r>
            <a:endParaRPr lang="en-IN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8C186-07B1-84FF-635F-C96A2A4AE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6713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2A5C7-FED3-4921-E9FE-87C9930DB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slides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17325-0305-A70A-6080-0A631D9E5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2458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202A-6F10-8B80-687B-E337AFF8B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Classical DNN – Binary classifier</a:t>
            </a: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A2D7CB3-ACDF-3EF7-496B-76C137F9C08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265946"/>
            <a:ext cx="8374811" cy="27353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63F594E-4E0D-73A6-1F3F-978368624BBF}"/>
              </a:ext>
            </a:extLst>
          </p:cNvPr>
          <p:cNvSpPr txBox="1"/>
          <p:nvPr/>
        </p:nvSpPr>
        <p:spPr>
          <a:xfrm>
            <a:off x="9299275" y="1552755"/>
            <a:ext cx="24153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Best model: epoch 8, Val AUC 0.9085</a:t>
            </a:r>
          </a:p>
          <a:p>
            <a:r>
              <a:rPr lang="sv-SE" dirty="0"/>
              <a:t>Train AUC </a:t>
            </a:r>
            <a:r>
              <a:rPr lang="en-IN" dirty="0"/>
              <a:t>0.9346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50B9BC-E924-3E6E-D489-00D67C0516A2}"/>
              </a:ext>
            </a:extLst>
          </p:cNvPr>
          <p:cNvSpPr txBox="1"/>
          <p:nvPr/>
        </p:nvSpPr>
        <p:spPr>
          <a:xfrm>
            <a:off x="838200" y="3974914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881B9EC-74EE-34AA-8B22-017D9CDE6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1" y="4349968"/>
            <a:ext cx="2948796" cy="23297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E0722AA-8B67-4130-0F2A-3E2B17174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6392" y="4349967"/>
            <a:ext cx="2390236" cy="21692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609CC90-4920-4614-59ED-FD119F33C997}"/>
              </a:ext>
            </a:extLst>
          </p:cNvPr>
          <p:cNvSpPr txBox="1"/>
          <p:nvPr/>
        </p:nvSpPr>
        <p:spPr>
          <a:xfrm>
            <a:off x="6719977" y="4349967"/>
            <a:ext cx="2390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Test accuracy: 0.9251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21944F8-D47E-BF3C-DFA2-A542E6DC9D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455740"/>
              </p:ext>
            </p:extLst>
          </p:nvPr>
        </p:nvGraphicFramePr>
        <p:xfrm>
          <a:off x="6517736" y="5102138"/>
          <a:ext cx="3920226" cy="1417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6742">
                  <a:extLst>
                    <a:ext uri="{9D8B030D-6E8A-4147-A177-3AD203B41FA5}">
                      <a16:colId xmlns:a16="http://schemas.microsoft.com/office/drawing/2014/main" val="3586049765"/>
                    </a:ext>
                  </a:extLst>
                </a:gridCol>
                <a:gridCol w="1306742">
                  <a:extLst>
                    <a:ext uri="{9D8B030D-6E8A-4147-A177-3AD203B41FA5}">
                      <a16:colId xmlns:a16="http://schemas.microsoft.com/office/drawing/2014/main" val="523784299"/>
                    </a:ext>
                  </a:extLst>
                </a:gridCol>
                <a:gridCol w="1306742">
                  <a:extLst>
                    <a:ext uri="{9D8B030D-6E8A-4147-A177-3AD203B41FA5}">
                      <a16:colId xmlns:a16="http://schemas.microsoft.com/office/drawing/2014/main" val="2382758767"/>
                    </a:ext>
                  </a:extLst>
                </a:gridCol>
              </a:tblGrid>
              <a:tr h="542656"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IN" sz="12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IN" sz="1200" b="1" dirty="0">
                        <a:effectLst/>
                      </a:endParaRPr>
                    </a:p>
                    <a:p>
                      <a:pPr algn="r">
                        <a:buNone/>
                      </a:pPr>
                      <a:r>
                        <a:rPr lang="en-IN" sz="1200" b="1" dirty="0">
                          <a:effectLst/>
                        </a:rPr>
                        <a:t>Threshold</a:t>
                      </a:r>
                      <a:br>
                        <a:rPr lang="en-IN" sz="1200" b="1" dirty="0">
                          <a:effectLst/>
                        </a:rPr>
                      </a:br>
                      <a:endParaRPr lang="en-IN" sz="1200" b="1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b="1" dirty="0">
                          <a:effectLst/>
                        </a:rPr>
                        <a:t>Accuracy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6153130"/>
                  </a:ext>
                </a:extLst>
              </a:tr>
              <a:tr h="319957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IN" sz="1200" b="1">
                          <a:effectLst/>
                        </a:rPr>
                        <a:t>DNN (thr=0.5)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>
                          <a:effectLst/>
                        </a:rPr>
                        <a:t>0.50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>
                          <a:effectLst/>
                        </a:rPr>
                        <a:t>0.925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7679214"/>
                  </a:ext>
                </a:extLst>
              </a:tr>
              <a:tr h="457082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IN" sz="1200" b="1">
                          <a:effectLst/>
                        </a:rPr>
                        <a:t>DNN (tuned thr)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>
                          <a:effectLst/>
                        </a:rPr>
                        <a:t>0.49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>
                          <a:effectLst/>
                        </a:rPr>
                        <a:t>0.925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123503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DB0D07-6671-A66B-6026-EE212EAB6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7393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84D5-F4EF-31DA-CFDE-13F76A471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Binary classification – Basic entangler 4 qubits, 2 rep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6BC970-395C-0126-E797-8C782D9481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77" y="1503695"/>
            <a:ext cx="7713023" cy="247844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0F031C-B0EE-8DE9-7F63-3AA335F19D21}"/>
              </a:ext>
            </a:extLst>
          </p:cNvPr>
          <p:cNvSpPr txBox="1"/>
          <p:nvPr/>
        </p:nvSpPr>
        <p:spPr>
          <a:xfrm>
            <a:off x="8652294" y="1915064"/>
            <a:ext cx="243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25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0.9012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0.8010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D420A6-C337-B2AB-D786-CF258B1C0FED}"/>
              </a:ext>
            </a:extLst>
          </p:cNvPr>
          <p:cNvSpPr txBox="1"/>
          <p:nvPr/>
        </p:nvSpPr>
        <p:spPr>
          <a:xfrm>
            <a:off x="1009290" y="3889012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4283D83-3EEC-4737-FB2A-9BBA51D19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264065"/>
            <a:ext cx="3303917" cy="2557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9B70B1F-3D78-3804-BDAD-D40FCC8BCE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2117" y="4076538"/>
            <a:ext cx="2732807" cy="2612154"/>
          </a:xfrm>
          <a:prstGeom prst="rect">
            <a:avLst/>
          </a:prstGeo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84776920-BDE2-12EE-0B7C-26B9190B10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8026267"/>
              </p:ext>
            </p:extLst>
          </p:nvPr>
        </p:nvGraphicFramePr>
        <p:xfrm>
          <a:off x="6944263" y="4516639"/>
          <a:ext cx="511546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5155">
                  <a:extLst>
                    <a:ext uri="{9D8B030D-6E8A-4147-A177-3AD203B41FA5}">
                      <a16:colId xmlns:a16="http://schemas.microsoft.com/office/drawing/2014/main" val="1435702668"/>
                    </a:ext>
                  </a:extLst>
                </a:gridCol>
                <a:gridCol w="1705155">
                  <a:extLst>
                    <a:ext uri="{9D8B030D-6E8A-4147-A177-3AD203B41FA5}">
                      <a16:colId xmlns:a16="http://schemas.microsoft.com/office/drawing/2014/main" val="935372838"/>
                    </a:ext>
                  </a:extLst>
                </a:gridCol>
                <a:gridCol w="1705155">
                  <a:extLst>
                    <a:ext uri="{9D8B030D-6E8A-4147-A177-3AD203B41FA5}">
                      <a16:colId xmlns:a16="http://schemas.microsoft.com/office/drawing/2014/main" val="3628718002"/>
                    </a:ext>
                  </a:extLst>
                </a:gridCol>
              </a:tblGrid>
              <a:tr h="409109"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IN" sz="14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br>
                        <a:rPr lang="en-IN" sz="1400" b="1" dirty="0">
                          <a:effectLst/>
                        </a:rPr>
                      </a:br>
                      <a:r>
                        <a:rPr lang="en-IN" sz="1400" b="1" dirty="0">
                          <a:effectLst/>
                        </a:rPr>
                        <a:t>threshold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400" b="1" dirty="0">
                          <a:effectLst/>
                        </a:rPr>
                        <a:t>accuracy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6406176"/>
                  </a:ext>
                </a:extLst>
              </a:tr>
              <a:tr h="458227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IN" sz="1400" b="1">
                          <a:effectLst/>
                        </a:rPr>
                        <a:t>Qiskit hybrid (thr=0.5)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400" dirty="0">
                          <a:effectLst/>
                        </a:rPr>
                        <a:t>0.50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400" dirty="0">
                          <a:effectLst/>
                        </a:rPr>
                        <a:t>0.853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06141"/>
                  </a:ext>
                </a:extLst>
              </a:tr>
              <a:tr h="458227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IN" sz="1400" b="1">
                          <a:effectLst/>
                        </a:rPr>
                        <a:t>Qiskit hybrid (tuned thr)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400">
                          <a:effectLst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400" dirty="0">
                          <a:effectLst/>
                        </a:rPr>
                        <a:t>0.920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695896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6748AE-36BE-82F3-393A-36136C754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41483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24E6D-F027-82A6-67D6-E3D2B9352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Binary classification – Basic entangler 4 qubits, 4 rep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B9C2B8-ABCE-E31C-4B93-1F3BE91F1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15537"/>
            <a:ext cx="7727774" cy="249747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85604B-FB32-8E0A-82A0-07003C625699}"/>
              </a:ext>
            </a:extLst>
          </p:cNvPr>
          <p:cNvSpPr txBox="1"/>
          <p:nvPr/>
        </p:nvSpPr>
        <p:spPr>
          <a:xfrm>
            <a:off x="8936966" y="1940943"/>
            <a:ext cx="2648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23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0.9174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0.8501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D2403CD-A2C4-21FD-69DC-E3B369242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434" y="4384835"/>
            <a:ext cx="2743200" cy="21236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A8AE0A3-6872-8800-7D9E-7DAE9124BD92}"/>
              </a:ext>
            </a:extLst>
          </p:cNvPr>
          <p:cNvSpPr txBox="1"/>
          <p:nvPr/>
        </p:nvSpPr>
        <p:spPr>
          <a:xfrm>
            <a:off x="1121434" y="4009782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1018908-7966-0768-77A9-842AAD9DD8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5623" y="4279793"/>
            <a:ext cx="2585094" cy="2333690"/>
          </a:xfrm>
          <a:prstGeom prst="rect">
            <a:avLst/>
          </a:prstGeo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3DEA868-FB6B-0D6E-0755-FB6A3EC463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20080"/>
              </p:ext>
            </p:extLst>
          </p:nvPr>
        </p:nvGraphicFramePr>
        <p:xfrm>
          <a:off x="6771736" y="4403300"/>
          <a:ext cx="523623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5412">
                  <a:extLst>
                    <a:ext uri="{9D8B030D-6E8A-4147-A177-3AD203B41FA5}">
                      <a16:colId xmlns:a16="http://schemas.microsoft.com/office/drawing/2014/main" val="1133774497"/>
                    </a:ext>
                  </a:extLst>
                </a:gridCol>
                <a:gridCol w="1745412">
                  <a:extLst>
                    <a:ext uri="{9D8B030D-6E8A-4147-A177-3AD203B41FA5}">
                      <a16:colId xmlns:a16="http://schemas.microsoft.com/office/drawing/2014/main" val="1538230826"/>
                    </a:ext>
                  </a:extLst>
                </a:gridCol>
                <a:gridCol w="1745412">
                  <a:extLst>
                    <a:ext uri="{9D8B030D-6E8A-4147-A177-3AD203B41FA5}">
                      <a16:colId xmlns:a16="http://schemas.microsoft.com/office/drawing/2014/main" val="1266419811"/>
                    </a:ext>
                  </a:extLst>
                </a:gridCol>
              </a:tblGrid>
              <a:tr h="421993"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IN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br>
                        <a:rPr lang="en-IN" b="1" dirty="0">
                          <a:effectLst/>
                        </a:rPr>
                      </a:br>
                      <a:r>
                        <a:rPr lang="en-IN" b="1" dirty="0">
                          <a:effectLst/>
                        </a:rPr>
                        <a:t>threshold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 dirty="0">
                          <a:effectLst/>
                        </a:rPr>
                        <a:t>accuracy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7201600"/>
                  </a:ext>
                </a:extLst>
              </a:tr>
              <a:tr h="421993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IN" b="1">
                          <a:effectLst/>
                        </a:rPr>
                        <a:t>Hybrid QML (thr=0.5)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dirty="0">
                          <a:effectLst/>
                        </a:rPr>
                        <a:t>0.50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>
                          <a:effectLst/>
                        </a:rPr>
                        <a:t>0.884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7505806"/>
                  </a:ext>
                </a:extLst>
              </a:tr>
              <a:tr h="421993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IN" b="1">
                          <a:effectLst/>
                        </a:rPr>
                        <a:t>Hybrid QML (tuned thr)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>
                          <a:effectLst/>
                        </a:rPr>
                        <a:t>0.47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dirty="0">
                          <a:effectLst/>
                        </a:rPr>
                        <a:t>0.886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6562327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80A19B-6111-4AAA-8DC9-015802BD7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45245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D4831-613C-80B6-7BC3-7F2072369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Classical DNN – Multi-class classification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0932A1-0AF5-3804-5BD9-B8416A752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98382"/>
            <a:ext cx="7362451" cy="23982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560149-96EB-5461-932D-EB259877F9BE}"/>
              </a:ext>
            </a:extLst>
          </p:cNvPr>
          <p:cNvSpPr txBox="1"/>
          <p:nvPr/>
        </p:nvSpPr>
        <p:spPr>
          <a:xfrm>
            <a:off x="8635042" y="1854680"/>
            <a:ext cx="27187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52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0.9395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0.8501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69E6E37-9075-A149-89AA-B0C1AE54D6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167786"/>
            <a:ext cx="3384307" cy="26220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9500484-1C7B-F1F9-EEA1-6F10AD1A1F7D}"/>
              </a:ext>
            </a:extLst>
          </p:cNvPr>
          <p:cNvSpPr txBox="1"/>
          <p:nvPr/>
        </p:nvSpPr>
        <p:spPr>
          <a:xfrm>
            <a:off x="1104181" y="3696615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E680300-765A-3345-548C-CDC63E2921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8098" y="4167786"/>
            <a:ext cx="2785020" cy="244440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95C6DD1-5652-5949-7F5F-2DDD8EDFAA8D}"/>
              </a:ext>
            </a:extLst>
          </p:cNvPr>
          <p:cNvSpPr txBox="1"/>
          <p:nvPr/>
        </p:nvSpPr>
        <p:spPr>
          <a:xfrm>
            <a:off x="7332453" y="4304581"/>
            <a:ext cx="25534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</a:t>
            </a:r>
          </a:p>
          <a:p>
            <a:r>
              <a:rPr lang="en-US" dirty="0"/>
              <a:t>Test accuracy: 0.8036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120CBB-55B7-03AF-3CBD-D41006FF4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8811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8FCC8-F3E8-5685-D222-F2F5DE26A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QML- 3 class classification – Basic entangler 4 qubits, 2 rep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E7E419-FE52-CA49-8B01-002592394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18874"/>
            <a:ext cx="6252713" cy="20736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C2CF0F-5AB9-75AB-E9A0-CEDE422A5E02}"/>
              </a:ext>
            </a:extLst>
          </p:cNvPr>
          <p:cNvSpPr txBox="1"/>
          <p:nvPr/>
        </p:nvSpPr>
        <p:spPr>
          <a:xfrm>
            <a:off x="7349706" y="1923690"/>
            <a:ext cx="22514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52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0.9395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0.8501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8C3B45E-3051-3F10-5B19-744E14ADF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186704"/>
            <a:ext cx="6328206" cy="246979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D8B371D-EECC-52FD-F15F-99037214DA2E}"/>
              </a:ext>
            </a:extLst>
          </p:cNvPr>
          <p:cNvSpPr txBox="1"/>
          <p:nvPr/>
        </p:nvSpPr>
        <p:spPr>
          <a:xfrm>
            <a:off x="838200" y="3752091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741BA0-154F-4F49-8C97-834DEC9FB3D2}"/>
              </a:ext>
            </a:extLst>
          </p:cNvPr>
          <p:cNvSpPr txBox="1"/>
          <p:nvPr/>
        </p:nvSpPr>
        <p:spPr>
          <a:xfrm>
            <a:off x="7530860" y="4580626"/>
            <a:ext cx="2191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Test accuracy: 0.8036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75AD6F-8139-06AF-A383-E451E73EB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9145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7C0FA-3211-E229-31E7-CE1D74188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D5F3E-2134-59F8-14E2-5AD873584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QML- 3 class classification – Basic entangler 4 qubits, 4 rep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9FF1B8-232B-69C9-1F62-4649D5A4D1E1}"/>
              </a:ext>
            </a:extLst>
          </p:cNvPr>
          <p:cNvSpPr txBox="1"/>
          <p:nvPr/>
        </p:nvSpPr>
        <p:spPr>
          <a:xfrm>
            <a:off x="8006931" y="1973696"/>
            <a:ext cx="22514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35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0.8192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0.7649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03ED6F-21B3-7B92-A4FF-1C019D198EAF}"/>
              </a:ext>
            </a:extLst>
          </p:cNvPr>
          <p:cNvSpPr txBox="1"/>
          <p:nvPr/>
        </p:nvSpPr>
        <p:spPr>
          <a:xfrm>
            <a:off x="838200" y="3752091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3FD581-A033-EF2A-B974-DC46DB8DD83F}"/>
              </a:ext>
            </a:extLst>
          </p:cNvPr>
          <p:cNvSpPr txBox="1"/>
          <p:nvPr/>
        </p:nvSpPr>
        <p:spPr>
          <a:xfrm>
            <a:off x="7530860" y="4580626"/>
            <a:ext cx="2191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Test accuracy: 0.8036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6BAC2D-61F1-F2D8-0C4D-DF801178A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21124"/>
            <a:ext cx="6950543" cy="22309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40E8CD-FB47-77CB-624C-95C9D528E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27" y="4075280"/>
            <a:ext cx="6432580" cy="2523191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A1530E-5217-2146-40B9-3627218BE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21833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DA080-D4CF-B6F4-03C7-C661FA865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F376A-E4B1-874D-9792-444C98865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QML- 3 class classification – Basic entangler 4 qubits, 8 rep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C0D608-941C-2C87-DFBB-46D52AE4D788}"/>
              </a:ext>
            </a:extLst>
          </p:cNvPr>
          <p:cNvSpPr txBox="1"/>
          <p:nvPr/>
        </p:nvSpPr>
        <p:spPr>
          <a:xfrm>
            <a:off x="7349706" y="2212327"/>
            <a:ext cx="22514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10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0.8552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0.8114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6D0318-3103-DD39-910B-1701314BFED9}"/>
              </a:ext>
            </a:extLst>
          </p:cNvPr>
          <p:cNvSpPr txBox="1"/>
          <p:nvPr/>
        </p:nvSpPr>
        <p:spPr>
          <a:xfrm>
            <a:off x="838200" y="3752091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DA8E5C-1A20-CA56-66C2-836A69FA1E48}"/>
              </a:ext>
            </a:extLst>
          </p:cNvPr>
          <p:cNvSpPr txBox="1"/>
          <p:nvPr/>
        </p:nvSpPr>
        <p:spPr>
          <a:xfrm>
            <a:off x="7530860" y="4580626"/>
            <a:ext cx="2191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Test accuracy: 0.7494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0CE648-4BE5-A24B-5536-A363E6999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7"/>
            <a:ext cx="6511506" cy="20825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F350C3-F9B8-C6FB-AA0F-E23167F76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343" y="4127144"/>
            <a:ext cx="6511506" cy="2577251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8E9790-48CD-84C3-408E-7C7ABE1DB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8034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76F41-2AC2-92E4-3306-F79192420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QML- 3 class classification – Basic entangler 8 qubits, 1 rep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07D620-3DC7-D5FB-E867-8A32FD42E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09837"/>
            <a:ext cx="8256578" cy="26846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F1D253-159B-9E8F-E86B-5F1D741A2287}"/>
              </a:ext>
            </a:extLst>
          </p:cNvPr>
          <p:cNvSpPr txBox="1"/>
          <p:nvPr/>
        </p:nvSpPr>
        <p:spPr>
          <a:xfrm>
            <a:off x="9279731" y="1928813"/>
            <a:ext cx="25860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20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0.8403 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0.8036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3D9C4B-1A4D-78CF-3D20-19D506297CD6}"/>
              </a:ext>
            </a:extLst>
          </p:cNvPr>
          <p:cNvSpPr txBox="1"/>
          <p:nvPr/>
        </p:nvSpPr>
        <p:spPr>
          <a:xfrm>
            <a:off x="1052513" y="4080704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6FA8033-4EAA-15FE-9BC3-3DBBB2B44C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637" y="4455757"/>
            <a:ext cx="5863456" cy="230060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E36C15A-2C21-C693-E541-84524DCB2598}"/>
              </a:ext>
            </a:extLst>
          </p:cNvPr>
          <p:cNvSpPr txBox="1"/>
          <p:nvPr/>
        </p:nvSpPr>
        <p:spPr>
          <a:xfrm>
            <a:off x="7008019" y="4979194"/>
            <a:ext cx="2900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</a:t>
            </a:r>
          </a:p>
          <a:p>
            <a:r>
              <a:rPr lang="en-US" dirty="0"/>
              <a:t>Test accuracy: 0.7907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4C29DB-821D-88A0-FA90-5886C278F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4256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98FB9-1567-1698-A4A4-609651791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F720D-D504-542D-7C85-568D45EBD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QML- 3 class classification – Basic entangler 8 qubits, 2 rep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8DE4A4-F699-F5A3-7FA2-4FFFDCDE3BD2}"/>
              </a:ext>
            </a:extLst>
          </p:cNvPr>
          <p:cNvSpPr txBox="1"/>
          <p:nvPr/>
        </p:nvSpPr>
        <p:spPr>
          <a:xfrm>
            <a:off x="7661186" y="2189953"/>
            <a:ext cx="2775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19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0.8020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0.7855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DD2D62-45BA-8BF6-5719-F86D382CC4E2}"/>
              </a:ext>
            </a:extLst>
          </p:cNvPr>
          <p:cNvSpPr txBox="1"/>
          <p:nvPr/>
        </p:nvSpPr>
        <p:spPr>
          <a:xfrm>
            <a:off x="838200" y="3752091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9C562A-1E31-7F87-1833-23DD509C3A48}"/>
              </a:ext>
            </a:extLst>
          </p:cNvPr>
          <p:cNvSpPr txBox="1"/>
          <p:nvPr/>
        </p:nvSpPr>
        <p:spPr>
          <a:xfrm>
            <a:off x="7661186" y="4573483"/>
            <a:ext cx="2191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Test accuracy: 0.7390 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5DA6D1-0AE5-0886-329D-8CBC362101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26" y="1610640"/>
            <a:ext cx="6562334" cy="214145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81ED4-8658-6858-3C99-485C04713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84" y="4127144"/>
            <a:ext cx="6670702" cy="260886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373835-0D55-11DC-7B3F-00E605129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18974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22500-4DA6-42BB-BDDB-EBA94FF59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B342F-1D06-2842-3EAA-63D2A048B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QML- 3 class classification – Basic entangler 8 qubits, 4 rep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6C25B7-E038-1916-45FF-50FA8F4DDE32}"/>
              </a:ext>
            </a:extLst>
          </p:cNvPr>
          <p:cNvSpPr txBox="1"/>
          <p:nvPr/>
        </p:nvSpPr>
        <p:spPr>
          <a:xfrm>
            <a:off x="7661186" y="2189953"/>
            <a:ext cx="2775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12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0.8236 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0.7933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7F22B-98BF-BC0A-005D-2296B70DBC34}"/>
              </a:ext>
            </a:extLst>
          </p:cNvPr>
          <p:cNvSpPr txBox="1"/>
          <p:nvPr/>
        </p:nvSpPr>
        <p:spPr>
          <a:xfrm>
            <a:off x="838200" y="3752091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643401-E27D-6C41-83F9-A5C71631E529}"/>
              </a:ext>
            </a:extLst>
          </p:cNvPr>
          <p:cNvSpPr txBox="1"/>
          <p:nvPr/>
        </p:nvSpPr>
        <p:spPr>
          <a:xfrm>
            <a:off x="7661186" y="4573483"/>
            <a:ext cx="2191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Test accuracy: 0.7778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53F2EE-A19D-769D-4612-B25AF4BD9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442" y="1620226"/>
            <a:ext cx="6553349" cy="20627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EBF697F-7E34-A8DF-7245-A42E5DE23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148537"/>
            <a:ext cx="6092058" cy="235296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75767-4D84-E276-94B6-F2CA5494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23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36774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0291C-3C23-0216-35A3-0FA417545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E7538-A1A2-851E-2A17-FE216BD7B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QML- 3 class classification – Basic entangler 16 qubits, 1 rep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4F242-A09C-A861-C03E-43C6F1715AB6}"/>
              </a:ext>
            </a:extLst>
          </p:cNvPr>
          <p:cNvSpPr txBox="1"/>
          <p:nvPr/>
        </p:nvSpPr>
        <p:spPr>
          <a:xfrm>
            <a:off x="7773188" y="2189953"/>
            <a:ext cx="2775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25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0.8486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0.7726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DAEBAD-C765-90B2-8101-C5D12D965F59}"/>
              </a:ext>
            </a:extLst>
          </p:cNvPr>
          <p:cNvSpPr txBox="1"/>
          <p:nvPr/>
        </p:nvSpPr>
        <p:spPr>
          <a:xfrm>
            <a:off x="838200" y="3752091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B6216A-9535-DDA0-F2F9-7B224212A0B4}"/>
              </a:ext>
            </a:extLst>
          </p:cNvPr>
          <p:cNvSpPr txBox="1"/>
          <p:nvPr/>
        </p:nvSpPr>
        <p:spPr>
          <a:xfrm>
            <a:off x="7661186" y="4573483"/>
            <a:ext cx="2191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Test accuracy: 0.7700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ACE42B-F808-33EE-1532-CDF584C61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35710"/>
            <a:ext cx="6934988" cy="22318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1AE4B65-5275-ACB1-B97F-A2DB71E2A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261377"/>
            <a:ext cx="5422929" cy="212182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AB8937-374C-E13E-87A1-F8207F372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86101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DCFB-B20F-2DB6-C0DC-7CC5AA1F5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D137C-BB5E-42E1-09B3-226DDDE1B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QML- 3 class classification – Strong entangler 4 qubits, 2 rep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820359-51FA-0855-8B19-9437A866E943}"/>
              </a:ext>
            </a:extLst>
          </p:cNvPr>
          <p:cNvSpPr txBox="1"/>
          <p:nvPr/>
        </p:nvSpPr>
        <p:spPr>
          <a:xfrm>
            <a:off x="7980356" y="2060683"/>
            <a:ext cx="2775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28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0.8688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0.7726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D8520C-FDA2-E9FC-0E10-CB2F3CD6A35F}"/>
              </a:ext>
            </a:extLst>
          </p:cNvPr>
          <p:cNvSpPr txBox="1"/>
          <p:nvPr/>
        </p:nvSpPr>
        <p:spPr>
          <a:xfrm>
            <a:off x="838200" y="3752091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87380A-FD9C-81CB-3FCE-2E43AFB10428}"/>
              </a:ext>
            </a:extLst>
          </p:cNvPr>
          <p:cNvSpPr txBox="1"/>
          <p:nvPr/>
        </p:nvSpPr>
        <p:spPr>
          <a:xfrm>
            <a:off x="7661186" y="4573483"/>
            <a:ext cx="2191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Test accuracy: 0.7700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4DF538-36A2-6AF9-BF95-57CC458D05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837" y="1569106"/>
            <a:ext cx="6675349" cy="21727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D118DFA-CD70-7BA4-92CB-4EB36FB0A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4239898"/>
            <a:ext cx="5839640" cy="225297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3CB1A6-7109-14E9-C80D-04A1E6DE0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25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89069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1183</TotalTime>
  <Words>781</Words>
  <Application>Microsoft Office PowerPoint</Application>
  <PresentationFormat>Widescreen</PresentationFormat>
  <Paragraphs>157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Calibri Light</vt:lpstr>
      <vt:lpstr>Office Theme</vt:lpstr>
      <vt:lpstr>QLINK drug potency</vt:lpstr>
      <vt:lpstr>Dataset and pre-processing</vt:lpstr>
      <vt:lpstr>Mann –Whitney / Kruskal-Wallis test</vt:lpstr>
      <vt:lpstr>Modelling</vt:lpstr>
      <vt:lpstr>Binary classification Results</vt:lpstr>
      <vt:lpstr>Multi-class classification results</vt:lpstr>
      <vt:lpstr>Benchmark – State vector simulator</vt:lpstr>
      <vt:lpstr>Benchmark – Sampling based simulator</vt:lpstr>
      <vt:lpstr>Benchmark – IONQ Aria1 simulator</vt:lpstr>
      <vt:lpstr>Benchmark – IonQ forte Enterprise 1 36q </vt:lpstr>
      <vt:lpstr>Recall scores</vt:lpstr>
      <vt:lpstr>References</vt:lpstr>
      <vt:lpstr>Backup slides</vt:lpstr>
      <vt:lpstr>Classical DNN – Binary classifier</vt:lpstr>
      <vt:lpstr>Hybrid QML- Binary classification – Basic entangler 4 qubits, 2 rep</vt:lpstr>
      <vt:lpstr>Hybrid QML- Binary classification – Basic entangler 4 qubits, 4 rep</vt:lpstr>
      <vt:lpstr>Classical DNN – Multi-class classification</vt:lpstr>
      <vt:lpstr>Hybrid QML- 3 class classification – Basic entangler 4 qubits, 2 rep</vt:lpstr>
      <vt:lpstr>Hybrid QML- 3 class classification – Basic entangler 4 qubits, 4 rep</vt:lpstr>
      <vt:lpstr>Hybrid QML- 3 class classification – Basic entangler 4 qubits, 8 rep</vt:lpstr>
      <vt:lpstr>Hybrid QML- 3 class classification – Basic entangler 8 qubits, 1 rep</vt:lpstr>
      <vt:lpstr>Hybrid QML- 3 class classification – Basic entangler 8 qubits, 2 rep</vt:lpstr>
      <vt:lpstr>Hybrid QML- 3 class classification – Basic entangler 8 qubits, 4 rep</vt:lpstr>
      <vt:lpstr>Hybrid QML- 3 class classification – Basic entangler 16 qubits, 1 rep</vt:lpstr>
      <vt:lpstr>Hybrid QML- 3 class classification – Strong entangler 4 qubits, 2 rep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Ramachandran Sekanipuram Srikanthan</dc:creator>
  <cp:lastModifiedBy>Ramachandran Sekanipuram Srikanthan</cp:lastModifiedBy>
  <cp:revision>70</cp:revision>
  <dcterms:created xsi:type="dcterms:W3CDTF">2026-10-11T00:59:38Z</dcterms:created>
  <dcterms:modified xsi:type="dcterms:W3CDTF">2026-10-11T20:48:23Z</dcterms:modified>
</cp:coreProperties>
</file>