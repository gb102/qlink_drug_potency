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13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F7E3-418D-D282-62BA-F661C866A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FA45E6-5C7A-D725-5B3D-5620439592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51C2C-9F66-CF5A-30CC-5F5B7B46C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1BB51-21FF-49C0-8E42-BDE44188109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FA1DF-D432-D450-9CFD-8A144265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B10EA-FE1B-7CD9-1B1B-1F2B3F5CD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F8EC-53F2-4EB2-97C1-60EB836CC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376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51BBB-9C96-7D88-F6C6-34DA7DEF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CD4C6-AA8F-E877-8654-E489EA269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7C60F-0AA5-4C41-6A18-A679CEE2E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1BB51-21FF-49C0-8E42-BDE44188109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7E4AE-C31F-CC5E-F101-2F94834DC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A5A20-A4E6-E00F-AE7A-18CCFCC7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F8EC-53F2-4EB2-97C1-60EB836CC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913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1D637-8870-56B4-72D1-6CCA5762B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DC60F-96EF-B104-31E0-32C4C71A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6F855-6A67-DB69-D53D-87AD125D2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1BB51-21FF-49C0-8E42-BDE44188109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09CC8-2A51-71BA-1C05-DC9FAEBE5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4B25E-9520-062C-FEF4-2D8DE37D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F8EC-53F2-4EB2-97C1-60EB836CC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211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49863-4BBC-0A91-C27B-4CE8BB4F1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3FCB4-B8F8-5A7F-F839-53AD51816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5B344-6D7E-FB62-7BB1-2E8BFEABC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E9F1-4F35-25E2-BF4C-09C745788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1BB51-21FF-49C0-8E42-BDE44188109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D8360-52A8-CEA8-F31E-2716C2187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3DE11-414D-E77B-0915-EEA620B3C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F8EC-53F2-4EB2-97C1-60EB836CC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752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E4CB2-1E06-6BC3-980E-82D0B9DFC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1D272-8774-EBAB-770A-5D3954FCF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B030A-E976-5970-DF9E-55022F755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FE311A-BAE9-1857-BBDE-8019A9C0E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A7C2D-0AEE-4859-B6F1-6B25C66A65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7CEADE-ACAC-8946-7ACC-446C70F71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1BB51-21FF-49C0-8E42-BDE44188109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2D1A98-C574-4A75-AFD0-301230449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05527E-F38A-017E-756A-AF4F9F220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F8EC-53F2-4EB2-97C1-60EB836CC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201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C6CCA-8761-D210-1D5E-2654C07BF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D74A1D-CBBC-B26A-8CD5-D2B8EBA29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1BB51-21FF-49C0-8E42-BDE44188109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43656A-68CD-9243-07E2-8F32A9E9C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AC9C5-0CBB-CAAE-62F9-EC31FEA8C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F8EC-53F2-4EB2-97C1-60EB836CC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493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991CBD-4036-DD18-E03B-935898426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1BB51-21FF-49C0-8E42-BDE44188109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FA96F4-E6B8-37D8-15E7-A61F82BDE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95E7B-6CDB-5AFF-69AB-7B11A023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F8EC-53F2-4EB2-97C1-60EB836CC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458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65E70-1DD8-74F5-8BE8-09C2AE427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C3575-7464-FA76-AAC9-7F7A5ADA3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D4186-858D-DDE1-9BF3-6224DF77C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BE788-5FF9-B8E7-A05F-A033A086C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1BB51-21FF-49C0-8E42-BDE44188109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9705C-EC7D-D46D-BFE5-0D4CFD9EB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55D31-00C5-BE10-B5BC-A07C328E2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F8EC-53F2-4EB2-97C1-60EB836CC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701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9BFD8-7E07-A713-EE1B-EF713694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27A0F-0E23-0CA3-6943-68FEBC099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FA095-2F06-12D7-32CA-458B4D154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01C6F-E7B0-253B-A958-C428B7620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1BB51-21FF-49C0-8E42-BDE44188109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7AC52-0579-B0F9-7B1E-3AB82FD6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A378E-09A7-86F5-6A79-E8B10768F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F8EC-53F2-4EB2-97C1-60EB836CC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232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EAB89-55B6-3B9A-3B5D-655521933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05349-6169-EB8C-F214-F669B93EA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66EF2-8B5E-561D-6F24-44B60CD02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1BB51-21FF-49C0-8E42-BDE44188109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1E273-7AFA-D499-545B-E11F3B318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A4BA2-28FD-D15E-2D1F-935B3441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F8EC-53F2-4EB2-97C1-60EB836CC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867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7D79AB-B0B2-26C1-2142-A7B5229AE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66F0D-A228-66CA-4795-FD3D4A832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5A0D3-CD76-D0F5-9D93-F8A9CFF03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1BB51-21FF-49C0-8E42-BDE44188109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FA504-CE5B-759F-B065-2BC71CECD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A8670-30FD-7C5B-F478-3A986DF6D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F8EC-53F2-4EB2-97C1-60EB836CC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006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13B07B-3A30-F0AD-1074-722ED428A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23033-2414-7C56-E076-12B5FC57F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42F1B-12E6-1632-2470-D70C8DD87C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1BB51-21FF-49C0-8E42-BDE44188109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08EAC-DF4B-1479-736B-DCA1E08E2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DFDB0-3D1C-5317-B784-225343917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4F8EC-53F2-4EB2-97C1-60EB836CC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63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4A9C0-745C-9FAC-C180-8032B39E18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ED2F6-86B7-8293-1CE1-6CDCF3BB14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18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C202A-6F10-8B80-687B-E337AFF8B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DNN – Binary classifier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A2D7CB3-ACDF-3EF7-496B-76C137F9C08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265946"/>
            <a:ext cx="8374811" cy="27353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3F594E-4E0D-73A6-1F3F-978368624BBF}"/>
              </a:ext>
            </a:extLst>
          </p:cNvPr>
          <p:cNvSpPr txBox="1"/>
          <p:nvPr/>
        </p:nvSpPr>
        <p:spPr>
          <a:xfrm>
            <a:off x="9299275" y="1552755"/>
            <a:ext cx="24153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Best model: epoch 8, Val AUC 0.9085</a:t>
            </a:r>
          </a:p>
          <a:p>
            <a:r>
              <a:rPr lang="sv-SE" dirty="0"/>
              <a:t>Train AUC </a:t>
            </a:r>
            <a:r>
              <a:rPr lang="en-IN" dirty="0"/>
              <a:t>0.9346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0B9BC-E924-3E6E-D489-00D67C0516A2}"/>
              </a:ext>
            </a:extLst>
          </p:cNvPr>
          <p:cNvSpPr txBox="1"/>
          <p:nvPr/>
        </p:nvSpPr>
        <p:spPr>
          <a:xfrm>
            <a:off x="838200" y="3974914"/>
            <a:ext cx="3303917" cy="37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set results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81B9EC-74EE-34AA-8B22-017D9CDE6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4349968"/>
            <a:ext cx="2948796" cy="23297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0722AA-8B67-4130-0F2A-3E2B17174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6392" y="4349967"/>
            <a:ext cx="2390236" cy="21692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609CC90-4920-4614-59ED-FD119F33C997}"/>
              </a:ext>
            </a:extLst>
          </p:cNvPr>
          <p:cNvSpPr txBox="1"/>
          <p:nvPr/>
        </p:nvSpPr>
        <p:spPr>
          <a:xfrm>
            <a:off x="6719977" y="4349967"/>
            <a:ext cx="2390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Test accuracy: 0.9251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21944F8-D47E-BF3C-DFA2-A542E6DC9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455740"/>
              </p:ext>
            </p:extLst>
          </p:nvPr>
        </p:nvGraphicFramePr>
        <p:xfrm>
          <a:off x="6517736" y="5102138"/>
          <a:ext cx="3920226" cy="1417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742">
                  <a:extLst>
                    <a:ext uri="{9D8B030D-6E8A-4147-A177-3AD203B41FA5}">
                      <a16:colId xmlns:a16="http://schemas.microsoft.com/office/drawing/2014/main" val="3586049765"/>
                    </a:ext>
                  </a:extLst>
                </a:gridCol>
                <a:gridCol w="1306742">
                  <a:extLst>
                    <a:ext uri="{9D8B030D-6E8A-4147-A177-3AD203B41FA5}">
                      <a16:colId xmlns:a16="http://schemas.microsoft.com/office/drawing/2014/main" val="523784299"/>
                    </a:ext>
                  </a:extLst>
                </a:gridCol>
                <a:gridCol w="1306742">
                  <a:extLst>
                    <a:ext uri="{9D8B030D-6E8A-4147-A177-3AD203B41FA5}">
                      <a16:colId xmlns:a16="http://schemas.microsoft.com/office/drawing/2014/main" val="2382758767"/>
                    </a:ext>
                  </a:extLst>
                </a:gridCol>
              </a:tblGrid>
              <a:tr h="542656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2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200" b="1" dirty="0">
                        <a:effectLst/>
                      </a:endParaRPr>
                    </a:p>
                    <a:p>
                      <a:pPr algn="r">
                        <a:buNone/>
                      </a:pPr>
                      <a:r>
                        <a:rPr lang="en-IN" sz="1200" b="1" dirty="0">
                          <a:effectLst/>
                        </a:rPr>
                        <a:t>Threshold</a:t>
                      </a:r>
                      <a:br>
                        <a:rPr lang="en-IN" sz="1200" b="1" dirty="0">
                          <a:effectLst/>
                        </a:rPr>
                      </a:b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 dirty="0">
                          <a:effectLst/>
                        </a:rPr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153130"/>
                  </a:ext>
                </a:extLst>
              </a:tr>
              <a:tr h="319957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200" b="1">
                          <a:effectLst/>
                        </a:rPr>
                        <a:t>DNN (thr=0.5)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dirty="0">
                          <a:effectLst/>
                        </a:rPr>
                        <a:t>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>
                          <a:effectLst/>
                        </a:rPr>
                        <a:t>0.925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7679214"/>
                  </a:ext>
                </a:extLst>
              </a:tr>
              <a:tr h="457082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200" b="1">
                          <a:effectLst/>
                        </a:rPr>
                        <a:t>DNN (tuned thr)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>
                          <a:effectLst/>
                        </a:rPr>
                        <a:t>0.49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dirty="0">
                          <a:effectLst/>
                        </a:rPr>
                        <a:t>0.925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1235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7393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B84D5-F4EF-31DA-CFDE-13F76A471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QML- Binary classification – Basic entangler 4 qubits, 2 rep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6BC970-395C-0126-E797-8C782D948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77" y="1503695"/>
            <a:ext cx="7713023" cy="24784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0F031C-B0EE-8DE9-7F63-3AA335F19D21}"/>
              </a:ext>
            </a:extLst>
          </p:cNvPr>
          <p:cNvSpPr txBox="1"/>
          <p:nvPr/>
        </p:nvSpPr>
        <p:spPr>
          <a:xfrm>
            <a:off x="8652294" y="1915064"/>
            <a:ext cx="24326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Best epoch: 25 </a:t>
            </a:r>
          </a:p>
          <a:p>
            <a:r>
              <a:rPr lang="en-IN" dirty="0"/>
              <a:t>Train </a:t>
            </a:r>
            <a:r>
              <a:rPr lang="en-IN" dirty="0" err="1"/>
              <a:t>acc</a:t>
            </a:r>
            <a:r>
              <a:rPr lang="en-IN" dirty="0"/>
              <a:t>: 0.9012 </a:t>
            </a:r>
          </a:p>
          <a:p>
            <a:r>
              <a:rPr lang="en-IN" dirty="0"/>
              <a:t>Val </a:t>
            </a:r>
            <a:r>
              <a:rPr lang="en-IN" dirty="0" err="1"/>
              <a:t>acc</a:t>
            </a:r>
            <a:r>
              <a:rPr lang="en-IN" dirty="0"/>
              <a:t>: 0.8010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D420A6-C337-B2AB-D786-CF258B1C0FED}"/>
              </a:ext>
            </a:extLst>
          </p:cNvPr>
          <p:cNvSpPr txBox="1"/>
          <p:nvPr/>
        </p:nvSpPr>
        <p:spPr>
          <a:xfrm>
            <a:off x="1009290" y="3889012"/>
            <a:ext cx="3303917" cy="37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set results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283D83-3EEC-4737-FB2A-9BBA51D19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64065"/>
            <a:ext cx="3303917" cy="2557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B70B1F-3D78-3804-BDAD-D40FCC8BC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117" y="4076538"/>
            <a:ext cx="2732807" cy="2612154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4776920-BDE2-12EE-0B7C-26B9190B1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026267"/>
              </p:ext>
            </p:extLst>
          </p:nvPr>
        </p:nvGraphicFramePr>
        <p:xfrm>
          <a:off x="6944263" y="4516639"/>
          <a:ext cx="511546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155">
                  <a:extLst>
                    <a:ext uri="{9D8B030D-6E8A-4147-A177-3AD203B41FA5}">
                      <a16:colId xmlns:a16="http://schemas.microsoft.com/office/drawing/2014/main" val="1435702668"/>
                    </a:ext>
                  </a:extLst>
                </a:gridCol>
                <a:gridCol w="1705155">
                  <a:extLst>
                    <a:ext uri="{9D8B030D-6E8A-4147-A177-3AD203B41FA5}">
                      <a16:colId xmlns:a16="http://schemas.microsoft.com/office/drawing/2014/main" val="935372838"/>
                    </a:ext>
                  </a:extLst>
                </a:gridCol>
                <a:gridCol w="1705155">
                  <a:extLst>
                    <a:ext uri="{9D8B030D-6E8A-4147-A177-3AD203B41FA5}">
                      <a16:colId xmlns:a16="http://schemas.microsoft.com/office/drawing/2014/main" val="3628718002"/>
                    </a:ext>
                  </a:extLst>
                </a:gridCol>
              </a:tblGrid>
              <a:tr h="409109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sz="14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br>
                        <a:rPr lang="en-IN" sz="1400" b="1" dirty="0">
                          <a:effectLst/>
                        </a:rPr>
                      </a:br>
                      <a:r>
                        <a:rPr lang="en-IN" sz="1400" b="1" dirty="0">
                          <a:effectLst/>
                        </a:rPr>
                        <a:t>threshold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b="1" dirty="0">
                          <a:effectLst/>
                        </a:rPr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6406176"/>
                  </a:ext>
                </a:extLst>
              </a:tr>
              <a:tr h="458227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400" b="1">
                          <a:effectLst/>
                        </a:rPr>
                        <a:t>Qiskit hybrid (thr=0.5)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effectLst/>
                        </a:rPr>
                        <a:t>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effectLst/>
                        </a:rPr>
                        <a:t>0.853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06141"/>
                  </a:ext>
                </a:extLst>
              </a:tr>
              <a:tr h="458227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400" b="1">
                          <a:effectLst/>
                        </a:rPr>
                        <a:t>Qiskit hybrid (tuned thr)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effectLst/>
                        </a:rPr>
                        <a:t>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effectLst/>
                        </a:rPr>
                        <a:t>0.920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6958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4148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4E6D-F027-82A6-67D6-E3D2B935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QML- Binary classification – Basic entangler 4 qubits, 4 rep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B9C2B8-ABCE-E31C-4B93-1F3BE91F1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5537"/>
            <a:ext cx="7727774" cy="24974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85604B-FB32-8E0A-82A0-07003C625699}"/>
              </a:ext>
            </a:extLst>
          </p:cNvPr>
          <p:cNvSpPr txBox="1"/>
          <p:nvPr/>
        </p:nvSpPr>
        <p:spPr>
          <a:xfrm>
            <a:off x="8936966" y="1940943"/>
            <a:ext cx="2648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Best epoch: 23 </a:t>
            </a:r>
          </a:p>
          <a:p>
            <a:r>
              <a:rPr lang="en-IN" dirty="0"/>
              <a:t>Train </a:t>
            </a:r>
            <a:r>
              <a:rPr lang="en-IN" dirty="0" err="1"/>
              <a:t>acc</a:t>
            </a:r>
            <a:r>
              <a:rPr lang="en-IN" dirty="0"/>
              <a:t>: 0.9174 </a:t>
            </a:r>
          </a:p>
          <a:p>
            <a:r>
              <a:rPr lang="en-IN" dirty="0"/>
              <a:t>Val </a:t>
            </a:r>
            <a:r>
              <a:rPr lang="en-IN" dirty="0" err="1"/>
              <a:t>acc</a:t>
            </a:r>
            <a:r>
              <a:rPr lang="en-IN" dirty="0"/>
              <a:t>: 0.8501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2403CD-A2C4-21FD-69DC-E3B369242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434" y="4384835"/>
            <a:ext cx="2743200" cy="21236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8AE0A3-6872-8800-7D9E-7DAE9124BD92}"/>
              </a:ext>
            </a:extLst>
          </p:cNvPr>
          <p:cNvSpPr txBox="1"/>
          <p:nvPr/>
        </p:nvSpPr>
        <p:spPr>
          <a:xfrm>
            <a:off x="1121434" y="4009782"/>
            <a:ext cx="3303917" cy="37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set results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018908-7966-0768-77A9-842AAD9DD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5623" y="4279793"/>
            <a:ext cx="2585094" cy="2333690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3DEA868-FB6B-0D6E-0755-FB6A3EC463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20080"/>
              </p:ext>
            </p:extLst>
          </p:nvPr>
        </p:nvGraphicFramePr>
        <p:xfrm>
          <a:off x="6771736" y="4403300"/>
          <a:ext cx="523623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5412">
                  <a:extLst>
                    <a:ext uri="{9D8B030D-6E8A-4147-A177-3AD203B41FA5}">
                      <a16:colId xmlns:a16="http://schemas.microsoft.com/office/drawing/2014/main" val="1133774497"/>
                    </a:ext>
                  </a:extLst>
                </a:gridCol>
                <a:gridCol w="1745412">
                  <a:extLst>
                    <a:ext uri="{9D8B030D-6E8A-4147-A177-3AD203B41FA5}">
                      <a16:colId xmlns:a16="http://schemas.microsoft.com/office/drawing/2014/main" val="1538230826"/>
                    </a:ext>
                  </a:extLst>
                </a:gridCol>
                <a:gridCol w="1745412">
                  <a:extLst>
                    <a:ext uri="{9D8B030D-6E8A-4147-A177-3AD203B41FA5}">
                      <a16:colId xmlns:a16="http://schemas.microsoft.com/office/drawing/2014/main" val="1266419811"/>
                    </a:ext>
                  </a:extLst>
                </a:gridCol>
              </a:tblGrid>
              <a:tr h="421993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br>
                        <a:rPr lang="en-IN" b="1" dirty="0">
                          <a:effectLst/>
                        </a:rPr>
                      </a:br>
                      <a:r>
                        <a:rPr lang="en-IN" b="1" dirty="0">
                          <a:effectLst/>
                        </a:rPr>
                        <a:t>threshold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>
                          <a:effectLst/>
                        </a:rPr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201600"/>
                  </a:ext>
                </a:extLst>
              </a:tr>
              <a:tr h="421993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b="1">
                          <a:effectLst/>
                        </a:rPr>
                        <a:t>Hybrid QML (thr=0.5)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effectLst/>
                        </a:rPr>
                        <a:t>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0.884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7505806"/>
                  </a:ext>
                </a:extLst>
              </a:tr>
              <a:tr h="421993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b="1">
                          <a:effectLst/>
                        </a:rPr>
                        <a:t>Hybrid QML (tuned thr)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0.47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effectLst/>
                        </a:rPr>
                        <a:t>0.886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6562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4524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D4831-613C-80B6-7BC3-7F2072369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DNN – Multi-class classification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0932A1-0AF5-3804-5BD9-B8416A752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98382"/>
            <a:ext cx="7362451" cy="23982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560149-96EB-5461-932D-EB259877F9BE}"/>
              </a:ext>
            </a:extLst>
          </p:cNvPr>
          <p:cNvSpPr txBox="1"/>
          <p:nvPr/>
        </p:nvSpPr>
        <p:spPr>
          <a:xfrm>
            <a:off x="8635042" y="1854680"/>
            <a:ext cx="2718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Best epoch: 52 </a:t>
            </a:r>
          </a:p>
          <a:p>
            <a:r>
              <a:rPr lang="en-IN" dirty="0"/>
              <a:t>Train </a:t>
            </a:r>
            <a:r>
              <a:rPr lang="en-IN" dirty="0" err="1"/>
              <a:t>acc</a:t>
            </a:r>
            <a:r>
              <a:rPr lang="en-IN" dirty="0"/>
              <a:t>: 0.9395 </a:t>
            </a:r>
          </a:p>
          <a:p>
            <a:r>
              <a:rPr lang="en-IN" dirty="0"/>
              <a:t>Val </a:t>
            </a:r>
            <a:r>
              <a:rPr lang="en-IN" dirty="0" err="1"/>
              <a:t>acc</a:t>
            </a:r>
            <a:r>
              <a:rPr lang="en-IN" dirty="0"/>
              <a:t>: 0.8501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9E6E37-9075-A149-89AA-B0C1AE54D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67786"/>
            <a:ext cx="3384307" cy="26220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500484-1C7B-F1F9-EEA1-6F10AD1A1F7D}"/>
              </a:ext>
            </a:extLst>
          </p:cNvPr>
          <p:cNvSpPr txBox="1"/>
          <p:nvPr/>
        </p:nvSpPr>
        <p:spPr>
          <a:xfrm>
            <a:off x="1104181" y="3696615"/>
            <a:ext cx="3303917" cy="37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set results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E680300-765A-3345-548C-CDC63E2921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098" y="4167786"/>
            <a:ext cx="2785020" cy="24444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95C6DD1-5652-5949-7F5F-2DDD8EDFAA8D}"/>
              </a:ext>
            </a:extLst>
          </p:cNvPr>
          <p:cNvSpPr txBox="1"/>
          <p:nvPr/>
        </p:nvSpPr>
        <p:spPr>
          <a:xfrm>
            <a:off x="7332453" y="4304581"/>
            <a:ext cx="2553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samples: 387 </a:t>
            </a:r>
          </a:p>
          <a:p>
            <a:r>
              <a:rPr lang="en-US" dirty="0"/>
              <a:t>Test accuracy: 0.8036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8811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8FCC8-F3E8-5685-D222-F2F5DE26A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QML- 3 class classification – Basic entangler 4 qubits, 2 rep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E7E419-FE52-CA49-8B01-002592394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8874"/>
            <a:ext cx="6252713" cy="20736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C2CF0F-5AB9-75AB-E9A0-CEDE422A5E02}"/>
              </a:ext>
            </a:extLst>
          </p:cNvPr>
          <p:cNvSpPr txBox="1"/>
          <p:nvPr/>
        </p:nvSpPr>
        <p:spPr>
          <a:xfrm>
            <a:off x="7349706" y="1923690"/>
            <a:ext cx="22514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Best epoch: 52 </a:t>
            </a:r>
          </a:p>
          <a:p>
            <a:r>
              <a:rPr lang="en-IN" dirty="0"/>
              <a:t>Train </a:t>
            </a:r>
            <a:r>
              <a:rPr lang="en-IN" dirty="0" err="1"/>
              <a:t>acc</a:t>
            </a:r>
            <a:r>
              <a:rPr lang="en-IN" dirty="0"/>
              <a:t>: 0.9395 </a:t>
            </a:r>
          </a:p>
          <a:p>
            <a:r>
              <a:rPr lang="en-IN" dirty="0"/>
              <a:t>Val </a:t>
            </a:r>
            <a:r>
              <a:rPr lang="en-IN" dirty="0" err="1"/>
              <a:t>acc</a:t>
            </a:r>
            <a:r>
              <a:rPr lang="en-IN" dirty="0"/>
              <a:t>: 0.8501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C3B45E-3051-3F10-5B19-744E14ADF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86704"/>
            <a:ext cx="6328206" cy="24697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8B371D-EECC-52FD-F15F-99037214DA2E}"/>
              </a:ext>
            </a:extLst>
          </p:cNvPr>
          <p:cNvSpPr txBox="1"/>
          <p:nvPr/>
        </p:nvSpPr>
        <p:spPr>
          <a:xfrm>
            <a:off x="838200" y="3752091"/>
            <a:ext cx="3303917" cy="37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set results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741BA0-154F-4F49-8C97-834DEC9FB3D2}"/>
              </a:ext>
            </a:extLst>
          </p:cNvPr>
          <p:cNvSpPr txBox="1"/>
          <p:nvPr/>
        </p:nvSpPr>
        <p:spPr>
          <a:xfrm>
            <a:off x="7530860" y="4580626"/>
            <a:ext cx="2191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samples: 387 Test accuracy: 0.8036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914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7C0FA-3211-E229-31E7-CE1D74188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D5F3E-2134-59F8-14E2-5AD873584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QML- 3 class classification – Basic entangler 4 qubits, 4 rep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9FF1B8-232B-69C9-1F62-4649D5A4D1E1}"/>
              </a:ext>
            </a:extLst>
          </p:cNvPr>
          <p:cNvSpPr txBox="1"/>
          <p:nvPr/>
        </p:nvSpPr>
        <p:spPr>
          <a:xfrm>
            <a:off x="8006931" y="1973696"/>
            <a:ext cx="22514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Best epoch: 35 </a:t>
            </a:r>
          </a:p>
          <a:p>
            <a:r>
              <a:rPr lang="en-IN" dirty="0"/>
              <a:t>Train </a:t>
            </a:r>
            <a:r>
              <a:rPr lang="en-IN" dirty="0" err="1"/>
              <a:t>acc</a:t>
            </a:r>
            <a:r>
              <a:rPr lang="en-IN" dirty="0"/>
              <a:t>: 0.8192 </a:t>
            </a:r>
          </a:p>
          <a:p>
            <a:r>
              <a:rPr lang="en-IN" dirty="0"/>
              <a:t>Val </a:t>
            </a:r>
            <a:r>
              <a:rPr lang="en-IN" dirty="0" err="1"/>
              <a:t>acc</a:t>
            </a:r>
            <a:r>
              <a:rPr lang="en-IN" dirty="0"/>
              <a:t>: 0.7649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03ED6F-21B3-7B92-A4FF-1C019D198EAF}"/>
              </a:ext>
            </a:extLst>
          </p:cNvPr>
          <p:cNvSpPr txBox="1"/>
          <p:nvPr/>
        </p:nvSpPr>
        <p:spPr>
          <a:xfrm>
            <a:off x="838200" y="3752091"/>
            <a:ext cx="3303917" cy="37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set results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3FD581-A033-EF2A-B974-DC46DB8DD83F}"/>
              </a:ext>
            </a:extLst>
          </p:cNvPr>
          <p:cNvSpPr txBox="1"/>
          <p:nvPr/>
        </p:nvSpPr>
        <p:spPr>
          <a:xfrm>
            <a:off x="7530860" y="4580626"/>
            <a:ext cx="2191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samples: 387 Test accuracy: 0.8036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6BAC2D-61F1-F2D8-0C4D-DF801178A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21124"/>
            <a:ext cx="6950543" cy="22309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40E8CD-FB47-77CB-624C-95C9D528E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27" y="4075280"/>
            <a:ext cx="6432580" cy="252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83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DA080-D4CF-B6F4-03C7-C661FA865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376A-E4B1-874D-9792-444C98865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QML- 3 class classification – Basic entangler 4 qubits, 8 rep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0D608-941C-2C87-DFBB-46D52AE4D788}"/>
              </a:ext>
            </a:extLst>
          </p:cNvPr>
          <p:cNvSpPr txBox="1"/>
          <p:nvPr/>
        </p:nvSpPr>
        <p:spPr>
          <a:xfrm>
            <a:off x="7349706" y="2212327"/>
            <a:ext cx="22514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Best epoch: 10 </a:t>
            </a:r>
          </a:p>
          <a:p>
            <a:r>
              <a:rPr lang="en-IN" dirty="0"/>
              <a:t>Train </a:t>
            </a:r>
            <a:r>
              <a:rPr lang="en-IN" dirty="0" err="1"/>
              <a:t>acc</a:t>
            </a:r>
            <a:r>
              <a:rPr lang="en-IN" dirty="0"/>
              <a:t>: 0.8552 </a:t>
            </a:r>
          </a:p>
          <a:p>
            <a:r>
              <a:rPr lang="en-IN" dirty="0"/>
              <a:t>Val </a:t>
            </a:r>
            <a:r>
              <a:rPr lang="en-IN" dirty="0" err="1"/>
              <a:t>acc</a:t>
            </a:r>
            <a:r>
              <a:rPr lang="en-IN" dirty="0"/>
              <a:t>: 0.8114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6D0318-3103-DD39-910B-1701314BFED9}"/>
              </a:ext>
            </a:extLst>
          </p:cNvPr>
          <p:cNvSpPr txBox="1"/>
          <p:nvPr/>
        </p:nvSpPr>
        <p:spPr>
          <a:xfrm>
            <a:off x="838200" y="3752091"/>
            <a:ext cx="3303917" cy="37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set results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DA8E5C-1A20-CA56-66C2-836A69FA1E48}"/>
              </a:ext>
            </a:extLst>
          </p:cNvPr>
          <p:cNvSpPr txBox="1"/>
          <p:nvPr/>
        </p:nvSpPr>
        <p:spPr>
          <a:xfrm>
            <a:off x="7530860" y="4580626"/>
            <a:ext cx="2191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samples: 387 Test accuracy: 0.7494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0CE648-4BE5-A24B-5536-A363E6999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7"/>
            <a:ext cx="6511506" cy="2082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F350C3-F9B8-C6FB-AA0F-E23167F76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343" y="4127144"/>
            <a:ext cx="6511506" cy="257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98FB9-1567-1698-A4A4-609651791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F720D-D504-542D-7C85-568D45EBD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QML- 3 class classification – Basic entangler 8 qubits, 2 rep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8DE4A4-F699-F5A3-7FA2-4FFFDCDE3BD2}"/>
              </a:ext>
            </a:extLst>
          </p:cNvPr>
          <p:cNvSpPr txBox="1"/>
          <p:nvPr/>
        </p:nvSpPr>
        <p:spPr>
          <a:xfrm>
            <a:off x="7661186" y="2189953"/>
            <a:ext cx="27758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Best epoch: 19 </a:t>
            </a:r>
          </a:p>
          <a:p>
            <a:r>
              <a:rPr lang="en-IN" dirty="0"/>
              <a:t>Train </a:t>
            </a:r>
            <a:r>
              <a:rPr lang="en-IN" dirty="0" err="1"/>
              <a:t>acc</a:t>
            </a:r>
            <a:r>
              <a:rPr lang="en-IN" dirty="0"/>
              <a:t>: 0.8020 </a:t>
            </a:r>
          </a:p>
          <a:p>
            <a:r>
              <a:rPr lang="en-IN" dirty="0"/>
              <a:t>Val </a:t>
            </a:r>
            <a:r>
              <a:rPr lang="en-IN" dirty="0" err="1"/>
              <a:t>acc</a:t>
            </a:r>
            <a:r>
              <a:rPr lang="en-IN" dirty="0"/>
              <a:t>: 0.7855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DD2D62-45BA-8BF6-5719-F86D382CC4E2}"/>
              </a:ext>
            </a:extLst>
          </p:cNvPr>
          <p:cNvSpPr txBox="1"/>
          <p:nvPr/>
        </p:nvSpPr>
        <p:spPr>
          <a:xfrm>
            <a:off x="838200" y="3752091"/>
            <a:ext cx="3303917" cy="37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set results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9C562A-1E31-7F87-1833-23DD509C3A48}"/>
              </a:ext>
            </a:extLst>
          </p:cNvPr>
          <p:cNvSpPr txBox="1"/>
          <p:nvPr/>
        </p:nvSpPr>
        <p:spPr>
          <a:xfrm>
            <a:off x="7661186" y="4573483"/>
            <a:ext cx="2191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samples: 387 Test accuracy: 0.7390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5DA6D1-0AE5-0886-329D-8CBC36210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526" y="1610640"/>
            <a:ext cx="6562334" cy="21414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081ED4-8658-6858-3C99-485C04713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484" y="4127144"/>
            <a:ext cx="6670702" cy="260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897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22500-4DA6-42BB-BDDB-EBA94FF59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B342F-1D06-2842-3EAA-63D2A048B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QML- 3 class classification – Basic entangler 8 qubits, 4 rep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6C25B7-E038-1916-45FF-50FA8F4DDE32}"/>
              </a:ext>
            </a:extLst>
          </p:cNvPr>
          <p:cNvSpPr txBox="1"/>
          <p:nvPr/>
        </p:nvSpPr>
        <p:spPr>
          <a:xfrm>
            <a:off x="7661186" y="2189953"/>
            <a:ext cx="27758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Best epoch: 12 </a:t>
            </a:r>
          </a:p>
          <a:p>
            <a:r>
              <a:rPr lang="en-IN" dirty="0"/>
              <a:t>Train </a:t>
            </a:r>
            <a:r>
              <a:rPr lang="en-IN" dirty="0" err="1"/>
              <a:t>acc</a:t>
            </a:r>
            <a:r>
              <a:rPr lang="en-IN" dirty="0"/>
              <a:t>: 0.8236  </a:t>
            </a:r>
          </a:p>
          <a:p>
            <a:r>
              <a:rPr lang="en-IN" dirty="0"/>
              <a:t>Val </a:t>
            </a:r>
            <a:r>
              <a:rPr lang="en-IN" dirty="0" err="1"/>
              <a:t>acc</a:t>
            </a:r>
            <a:r>
              <a:rPr lang="en-IN" dirty="0"/>
              <a:t>: 0.7933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07F22B-98BF-BC0A-005D-2296B70DBC34}"/>
              </a:ext>
            </a:extLst>
          </p:cNvPr>
          <p:cNvSpPr txBox="1"/>
          <p:nvPr/>
        </p:nvSpPr>
        <p:spPr>
          <a:xfrm>
            <a:off x="838200" y="3752091"/>
            <a:ext cx="3303917" cy="37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set results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643401-E27D-6C41-83F9-A5C71631E529}"/>
              </a:ext>
            </a:extLst>
          </p:cNvPr>
          <p:cNvSpPr txBox="1"/>
          <p:nvPr/>
        </p:nvSpPr>
        <p:spPr>
          <a:xfrm>
            <a:off x="7661186" y="4573483"/>
            <a:ext cx="2191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samples: 387 Test accuracy: 0.7778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53F2EE-A19D-769D-4612-B25AF4BD9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42" y="1620226"/>
            <a:ext cx="6553349" cy="2062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BF697F-7E34-A8DF-7245-A42E5DE23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48537"/>
            <a:ext cx="6092058" cy="235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677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6F41-2AC2-92E4-3306-F79192420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QML- 3 class classification – Basic entangler 8 qubits, 1 rep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07D620-3DC7-D5FB-E867-8A32FD42E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9837"/>
            <a:ext cx="8256578" cy="26846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F1D253-159B-9E8F-E86B-5F1D741A2287}"/>
              </a:ext>
            </a:extLst>
          </p:cNvPr>
          <p:cNvSpPr txBox="1"/>
          <p:nvPr/>
        </p:nvSpPr>
        <p:spPr>
          <a:xfrm>
            <a:off x="9279731" y="1928813"/>
            <a:ext cx="25860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Best epoch: 20 </a:t>
            </a:r>
          </a:p>
          <a:p>
            <a:r>
              <a:rPr lang="en-IN" dirty="0"/>
              <a:t>Train </a:t>
            </a:r>
            <a:r>
              <a:rPr lang="en-IN" dirty="0" err="1"/>
              <a:t>acc</a:t>
            </a:r>
            <a:r>
              <a:rPr lang="en-IN" dirty="0"/>
              <a:t>: 0.8403  </a:t>
            </a:r>
          </a:p>
          <a:p>
            <a:r>
              <a:rPr lang="en-IN" dirty="0"/>
              <a:t>Val </a:t>
            </a:r>
            <a:r>
              <a:rPr lang="en-IN" dirty="0" err="1"/>
              <a:t>acc</a:t>
            </a:r>
            <a:r>
              <a:rPr lang="en-IN" dirty="0"/>
              <a:t>: 0.8036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3D9C4B-1A4D-78CF-3D20-19D506297CD6}"/>
              </a:ext>
            </a:extLst>
          </p:cNvPr>
          <p:cNvSpPr txBox="1"/>
          <p:nvPr/>
        </p:nvSpPr>
        <p:spPr>
          <a:xfrm>
            <a:off x="1052513" y="4080704"/>
            <a:ext cx="3303917" cy="37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set results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FA8033-4EAA-15FE-9BC3-3DBBB2B44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37" y="4455757"/>
            <a:ext cx="5863456" cy="23006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36C15A-2C21-C693-E541-84524DCB2598}"/>
              </a:ext>
            </a:extLst>
          </p:cNvPr>
          <p:cNvSpPr txBox="1"/>
          <p:nvPr/>
        </p:nvSpPr>
        <p:spPr>
          <a:xfrm>
            <a:off x="7008019" y="4979194"/>
            <a:ext cx="2900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samples: 387 </a:t>
            </a:r>
          </a:p>
          <a:p>
            <a:r>
              <a:rPr lang="en-US" dirty="0"/>
              <a:t>Test accuracy: 0.7907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4256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380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Classical DNN – Binary classifier</vt:lpstr>
      <vt:lpstr>Hybrid QML- Binary classification – Basic entangler 4 qubits, 2 rep</vt:lpstr>
      <vt:lpstr>Hybrid QML- Binary classification – Basic entangler 4 qubits, 4 rep</vt:lpstr>
      <vt:lpstr>Classical DNN – Multi-class classification</vt:lpstr>
      <vt:lpstr>Hybrid QML- 3 class classification – Basic entangler 4 qubits, 2 rep</vt:lpstr>
      <vt:lpstr>Hybrid QML- 3 class classification – Basic entangler 4 qubits, 4 rep</vt:lpstr>
      <vt:lpstr>Hybrid QML- 3 class classification – Basic entangler 4 qubits, 8 rep</vt:lpstr>
      <vt:lpstr>Hybrid QML- 3 class classification – Basic entangler 8 qubits, 2 rep</vt:lpstr>
      <vt:lpstr>Hybrid QML- 3 class classification – Basic entangler 8 qubits, 4 rep</vt:lpstr>
      <vt:lpstr>Hybrid QML- 3 class classification – Basic entangler 8 qubits, 1 rep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Ramachandran Sekanipuram Srikanthan</dc:creator>
  <cp:lastModifiedBy>Ramachandran Sekanipuram Srikanthan</cp:lastModifiedBy>
  <cp:revision>40</cp:revision>
  <dcterms:created xsi:type="dcterms:W3CDTF">2026-10-11T00:59:38Z</dcterms:created>
  <dcterms:modified xsi:type="dcterms:W3CDTF">2026-10-11T15:36:50Z</dcterms:modified>
</cp:coreProperties>
</file>